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708090"/>
    <a:srgbClr val="394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2931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1557533"/>
            <a:ext cx="6858000" cy="129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88000"/>
              </a:lnSpc>
            </a:pPr>
            <a:r>
              <a:rPr lang="en-US" sz="3200" dirty="0">
                <a:solidFill>
                  <a:srgbClr val="003366"/>
                </a:solidFill>
                <a:latin typeface="Montserrat ExtraBold" panose="00000900000000000000" pitchFamily="2" charset="0"/>
              </a:rPr>
              <a:t>Action &amp; Sports Lead Global Sales: Strategic Insights for Market Expansion</a:t>
            </a:r>
          </a:p>
        </p:txBody>
      </p:sp>
      <p:sp>
        <p:nvSpPr>
          <p:cNvPr id="4" name="Text 1"/>
          <p:cNvSpPr/>
          <p:nvPr/>
        </p:nvSpPr>
        <p:spPr>
          <a:xfrm>
            <a:off x="1143000" y="3280572"/>
            <a:ext cx="6858000" cy="305395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kern="0" spc="2" dirty="0">
                <a:solidFill>
                  <a:srgbClr val="87CE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INSIGHTS FOR FUTURE INVESTMENTS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EXECUTIVE SUMMARY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26927"/>
            <a:ext cx="285750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1585913"/>
            <a:ext cx="2476481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What Happened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571500" y="1866305"/>
            <a:ext cx="2476481" cy="1065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sales reached </a:t>
            </a:r>
            <a:r>
              <a:rPr lang="en-US" sz="11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$35,281</a:t>
            </a:r>
            <a:r>
              <a:rPr lang="en-US" sz="110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across 11,360 games. Market leaders like </a:t>
            </a:r>
            <a:r>
              <a:rPr lang="en-US" sz="11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Wii Sports</a:t>
            </a:r>
            <a:r>
              <a:rPr lang="en-US" sz="110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r>
              <a:rPr lang="en-US" sz="11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GTA V</a:t>
            </a:r>
            <a:r>
              <a:rPr lang="en-US" sz="110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demonstrate the power of established franchises and innovation in capturing global demand.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31" y="1126927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33731" y="1585913"/>
            <a:ext cx="2476509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Why it Happened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3333731" y="1866305"/>
            <a:ext cx="2476509" cy="1281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is driven by </a:t>
            </a:r>
            <a:r>
              <a:rPr lang="en-US" sz="11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exclusive platform strategies</a:t>
            </a:r>
            <a:r>
              <a:rPr lang="en-US" sz="110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strong regional performance. </a:t>
            </a:r>
            <a:r>
              <a:rPr lang="en-US" sz="11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 America</a:t>
            </a:r>
            <a:r>
              <a:rPr lang="en-US" sz="110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remains the primary engine, followed by Europe and Japan, reflecting diverse consumer behaviors.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1" y="1126927"/>
            <a:ext cx="285750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95991" y="1585913"/>
            <a:ext cx="2476481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6095991" y="1866305"/>
            <a:ext cx="2476481" cy="1065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Strategically target </a:t>
            </a:r>
            <a:r>
              <a:rPr lang="en-US" sz="11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high-growth regional markets</a:t>
            </a:r>
            <a:r>
              <a:rPr lang="en-US" sz="110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prioritize investment in consistently profitable genres like </a:t>
            </a:r>
            <a:r>
              <a:rPr lang="en-US" sz="11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and Sports</a:t>
            </a:r>
            <a:r>
              <a:rPr lang="en-US" sz="110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mitigate risk and optimize returns.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OBJECTIVE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984177"/>
            <a:ext cx="571500" cy="571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7250" y="2900363"/>
            <a:ext cx="74295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Identifying </a:t>
            </a:r>
            <a:r>
              <a:rPr lang="en-US" sz="2000" b="1" dirty="0">
                <a:solidFill>
                  <a:srgbClr val="87CEE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Profitable Genres</a:t>
            </a:r>
            <a:r>
              <a:rPr lang="en-US" sz="200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and </a:t>
            </a:r>
            <a:r>
              <a:rPr lang="en-US" sz="2000" b="1" dirty="0">
                <a:solidFill>
                  <a:srgbClr val="87CEE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High-Growth Regional Markets</a:t>
            </a:r>
            <a:r>
              <a:rPr lang="en-US" sz="200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to inform strategic investments and maximize returns.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ANALYSIS 1: REGIONAL SALES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114425"/>
            <a:ext cx="371475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North America: The Primary Revenue Engine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675209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 America consistently leads global video game sales, holding the largest market share. This dominance is driven by a </a:t>
            </a:r>
            <a:r>
              <a:rPr lang="en-US" sz="9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mature consumer base</a:t>
            </a:r>
            <a:r>
              <a:rPr lang="en-US" sz="9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high disposable income.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592400"/>
            <a:ext cx="3714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7CEE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2821000"/>
            <a:ext cx="3714750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9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Maturity:</a:t>
            </a:r>
            <a:r>
              <a:rPr lang="en-US" sz="9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NA and Europe represent the most stable revenue streams.
• </a:t>
            </a:r>
            <a:r>
              <a:rPr lang="en-US" sz="9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Growth Potential:</a:t>
            </a:r>
            <a:r>
              <a:rPr lang="en-US" sz="9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Japan remains a critical market for specialized genres.
• </a:t>
            </a:r>
            <a:r>
              <a:rPr lang="en-US" sz="9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Focus:</a:t>
            </a:r>
            <a:r>
              <a:rPr lang="en-US" sz="9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Marketing efforts should prioritize the NA region for maximum ROI.</a:t>
            </a:r>
            <a:endParaRPr lang="en-US" sz="950" dirty="0"/>
          </a:p>
        </p:txBody>
      </p:sp>
      <p:pic>
        <p:nvPicPr>
          <p:cNvPr id="8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14875" y="1258907"/>
            <a:ext cx="3857625" cy="25685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ANALYSIS 2: GENRE PERFORMANCE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185863"/>
            <a:ext cx="45434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Action and Sports: The Pillars of Consistency</a:t>
            </a:r>
            <a:endParaRPr lang="en-US" sz="1200" dirty="0"/>
          </a:p>
        </p:txBody>
      </p:sp>
      <p:pic>
        <p:nvPicPr>
          <p:cNvPr id="5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2046795"/>
            <a:ext cx="4543425" cy="18328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43550" y="1328738"/>
            <a:ext cx="30289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Investment Risk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543550" y="1532334"/>
            <a:ext cx="3028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(1.6K titles) and Sports (1.2K titles) demonstrate robust sales and enduring appeal across all platforms.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5543550" y="2018109"/>
            <a:ext cx="30289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Saturation vs. Demand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543550" y="2221706"/>
            <a:ext cx="3028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highly competitive, these genres offer the most predictable returns due to established fan bases.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543550" y="2778919"/>
            <a:ext cx="3028950" cy="825103"/>
          </a:xfrm>
          <a:prstGeom prst="rect">
            <a:avLst/>
          </a:prstGeom>
          <a:solidFill>
            <a:srgbClr val="F0F8FF"/>
          </a:solidFill>
          <a:ln/>
        </p:spPr>
      </p:sp>
      <p:sp>
        <p:nvSpPr>
          <p:cNvPr id="11" name="Shape 7"/>
          <p:cNvSpPr/>
          <p:nvPr/>
        </p:nvSpPr>
        <p:spPr>
          <a:xfrm>
            <a:off x="5543550" y="2778919"/>
            <a:ext cx="28575" cy="825103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12" name="Text 8"/>
          <p:cNvSpPr/>
          <p:nvPr/>
        </p:nvSpPr>
        <p:spPr>
          <a:xfrm>
            <a:off x="5686425" y="2886075"/>
            <a:ext cx="27432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Takeaway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686425" y="3089672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 development in Action/Sports while exploring high-growth niches like Shooters and RPGs.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ANALYSIS 3: SALES TREND OVER YEARS</a:t>
            </a:r>
            <a:endParaRPr lang="en-US" sz="1600" dirty="0"/>
          </a:p>
        </p:txBody>
      </p:sp>
      <p:pic>
        <p:nvPicPr>
          <p:cNvPr id="4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2144" y="1151651"/>
            <a:ext cx="4522148" cy="2857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00688" y="1114425"/>
            <a:ext cx="24574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Identifying the Golden Era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500688" y="1466255"/>
            <a:ext cx="24574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video game market reached its peak </a:t>
            </a:r>
            <a:r>
              <a:rPr lang="en-US" sz="9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"Golden Era" around 2008-2009</a:t>
            </a:r>
            <a:r>
              <a:rPr lang="en-US" sz="9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fueled by seventh-generation consoles and massive global hits.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500688" y="2589163"/>
            <a:ext cx="24574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7CEE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CURRENT TRAJECTORY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500688" y="2874913"/>
            <a:ext cx="2457450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Since the peak, the market has transitioned toward </a:t>
            </a:r>
            <a:r>
              <a:rPr lang="en-US" sz="9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distribution</a:t>
            </a:r>
            <a:r>
              <a:rPr lang="en-US" sz="9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r>
              <a:rPr lang="en-US" sz="9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live-service models</a:t>
            </a:r>
            <a:r>
              <a:rPr lang="en-US" sz="9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resulting in a consolidation of sales among top-tier franchises.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ANALYSIS 4:</a:t>
            </a:r>
            <a:r>
              <a:rPr lang="en-US" sz="1600" dirty="0">
                <a:solidFill>
                  <a:srgbClr val="003366"/>
                </a:solidFill>
                <a:latin typeface="Montserrat ExtraBold" panose="00000900000000000000" pitchFamily="2" charset="0"/>
              </a:rPr>
              <a:t>TOP-PERFORMING GAME TITLES</a:t>
            </a:r>
          </a:p>
        </p:txBody>
      </p:sp>
      <p:sp>
        <p:nvSpPr>
          <p:cNvPr id="4" name="Text 1"/>
          <p:cNvSpPr/>
          <p:nvPr/>
        </p:nvSpPr>
        <p:spPr>
          <a:xfrm>
            <a:off x="571500" y="1564370"/>
            <a:ext cx="30289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dirty="0">
                <a:solidFill>
                  <a:srgbClr val="003366"/>
                </a:solidFill>
                <a:latin typeface="Montserrat ExtraBold" panose="00000900000000000000" pitchFamily="2" charset="0"/>
              </a:rPr>
              <a:t>Dominance of Iconic Franchises</a:t>
            </a:r>
          </a:p>
        </p:txBody>
      </p:sp>
      <p:sp>
        <p:nvSpPr>
          <p:cNvPr id="5" name="Text 2"/>
          <p:cNvSpPr/>
          <p:nvPr/>
        </p:nvSpPr>
        <p:spPr>
          <a:xfrm>
            <a:off x="571500" y="1872638"/>
            <a:ext cx="3028950" cy="513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900" dirty="0">
                <a:solidFill>
                  <a:srgbClr val="70809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market is concentrated in a few key franchises, with </a:t>
            </a:r>
            <a:r>
              <a:rPr lang="en-US" sz="800" dirty="0">
                <a:solidFill>
                  <a:srgbClr val="003366"/>
                </a:solidFill>
                <a:latin typeface="Montserrat ExtraBold" panose="00000900000000000000" pitchFamily="2" charset="0"/>
                <a:cs typeface="Segoe UI" panose="020B0502040204020203" pitchFamily="34" charset="0"/>
              </a:rPr>
              <a:t>Nintendo</a:t>
            </a:r>
            <a:r>
              <a:rPr lang="en-US" sz="900" dirty="0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900" dirty="0">
                <a:solidFill>
                  <a:srgbClr val="70809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leading</a:t>
            </a:r>
            <a:r>
              <a:rPr lang="ar-EG" sz="900" dirty="0">
                <a:solidFill>
                  <a:srgbClr val="708090"/>
                </a:solidFill>
                <a:latin typeface="Montserrat ExtraBold" panose="00000900000000000000" pitchFamily="2" charset="0"/>
                <a:cs typeface="Segoe UI" panose="020B0502040204020203" pitchFamily="34" charset="0"/>
              </a:rPr>
              <a:t> </a:t>
            </a:r>
            <a:r>
              <a:rPr lang="en-US" sz="900" dirty="0">
                <a:solidFill>
                  <a:srgbClr val="70809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through iconic titles like </a:t>
            </a:r>
            <a:r>
              <a:rPr lang="en-US" sz="900" i="1" dirty="0">
                <a:solidFill>
                  <a:srgbClr val="70809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Wii Sports</a:t>
            </a:r>
            <a:r>
              <a:rPr lang="en-US" sz="900" dirty="0">
                <a:solidFill>
                  <a:srgbClr val="70809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US" sz="900" i="1" dirty="0">
                <a:solidFill>
                  <a:srgbClr val="70809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Super Mario Bros.</a:t>
            </a:r>
            <a:r>
              <a:rPr lang="en-US" sz="900" dirty="0">
                <a:solidFill>
                  <a:srgbClr val="70809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that have sustained long-term success.</a:t>
            </a:r>
          </a:p>
        </p:txBody>
      </p:sp>
      <p:sp>
        <p:nvSpPr>
          <p:cNvPr id="6" name="Text 3"/>
          <p:cNvSpPr/>
          <p:nvPr/>
        </p:nvSpPr>
        <p:spPr>
          <a:xfrm>
            <a:off x="571500" y="2833390"/>
            <a:ext cx="30289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7CEE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 DOMINANCE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3119140"/>
            <a:ext cx="3028950" cy="763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800" dirty="0">
                <a:solidFill>
                  <a:srgbClr val="003366"/>
                </a:solidFill>
                <a:latin typeface="Montserrat ExtraBold" panose="00000900000000000000" pitchFamily="2" charset="0"/>
              </a:rPr>
              <a:t>Nintendo </a:t>
            </a:r>
            <a:r>
              <a:rPr lang="en-US" sz="1000" dirty="0">
                <a:solidFill>
                  <a:srgbClr val="708090"/>
                </a:solidFill>
              </a:rPr>
              <a:t>maintains market dominance through iconic franchises, highlighting the power of strong brand recognition and long-term customer loyalty.</a:t>
            </a:r>
          </a:p>
          <a:p>
            <a:pPr marL="0" indent="0" algn="l">
              <a:lnSpc>
                <a:spcPct val="128000"/>
              </a:lnSpc>
              <a:buNone/>
            </a:pPr>
            <a:endParaRPr lang="en-US" sz="950" dirty="0"/>
          </a:p>
        </p:txBody>
      </p:sp>
      <p:pic>
        <p:nvPicPr>
          <p:cNvPr id="8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07693" y="1494892"/>
            <a:ext cx="3929063" cy="24537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CONCLUSION &amp; RECOMMENDATIONS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221581"/>
            <a:ext cx="357188" cy="35718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221581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07281" y="1221581"/>
            <a:ext cx="746521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Market Expansion </a:t>
            </a:r>
            <a:r>
              <a:rPr lang="en-US" sz="900" b="1" dirty="0">
                <a:solidFill>
                  <a:srgbClr val="87CEE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(Priority: High)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07281" y="1469827"/>
            <a:ext cx="7465219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efforts on </a:t>
            </a:r>
            <a:r>
              <a:rPr lang="en-US" sz="85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 America (NA)</a:t>
            </a:r>
            <a:r>
              <a:rPr lang="en-US" sz="90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as it accounts for </a:t>
            </a:r>
            <a:r>
              <a:rPr lang="en-US" sz="85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49%</a:t>
            </a:r>
            <a:r>
              <a:rPr lang="en-US" sz="90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total global sales. Allocate the majority of marketing and distribution budgets to this region to capitalize on its high revenue potential and mature consumer base.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71500" y="2000585"/>
            <a:ext cx="357188" cy="35718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2000585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07281" y="2000585"/>
            <a:ext cx="746521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Content Development </a:t>
            </a:r>
            <a:r>
              <a:rPr lang="en-US" sz="900" b="1" dirty="0">
                <a:solidFill>
                  <a:srgbClr val="87CEE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(Strategic)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07281" y="2248830"/>
            <a:ext cx="7465219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 </a:t>
            </a:r>
            <a:r>
              <a:rPr lang="en-US" sz="85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and Sports</a:t>
            </a:r>
            <a:r>
              <a:rPr lang="en-US" sz="90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genres, which together contribute over </a:t>
            </a:r>
            <a:r>
              <a:rPr lang="en-US" sz="85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33%</a:t>
            </a:r>
            <a:r>
              <a:rPr lang="en-US" sz="90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global volume. Invest in these high-demand categories to mitigate investment risk, as they show the most consistent sales performance.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1500" y="2779588"/>
            <a:ext cx="357188" cy="35718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2779588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07281" y="2779588"/>
            <a:ext cx="746521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Future Proofing </a:t>
            </a:r>
            <a:r>
              <a:rPr lang="en-US" sz="900" b="1" dirty="0">
                <a:solidFill>
                  <a:srgbClr val="87CEE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(Long-term)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07281" y="3027834"/>
            <a:ext cx="7465219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 to post-peak market consolidation (after the 2009 peak). Focus on </a:t>
            </a:r>
            <a:r>
              <a:rPr lang="en-US" sz="85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digital-first distribution</a:t>
            </a:r>
            <a:r>
              <a:rPr lang="en-US" sz="90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long-term franchise sustainability (like GTA or Mario) to maintain engagement in a market dominated by established titles.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357508"/>
            <a:ext cx="71437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0336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 INSIGHTS FOR FUTURE INVESTMENTS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1000125" y="2766222"/>
            <a:ext cx="7143750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kern="0" spc="3" dirty="0">
                <a:solidFill>
                  <a:srgbClr val="87CE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0125" y="3539533"/>
            <a:ext cx="7143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563</Words>
  <Application>Microsoft Office PowerPoint</Application>
  <PresentationFormat>On-screen Show (16:9)</PresentationFormat>
  <Paragraphs>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Montserrat ExtraBold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Rawda Abd El Ghaffar</cp:lastModifiedBy>
  <cp:revision>5</cp:revision>
  <dcterms:created xsi:type="dcterms:W3CDTF">2026-04-25T18:23:10Z</dcterms:created>
  <dcterms:modified xsi:type="dcterms:W3CDTF">2026-04-25T20:27:57Z</dcterms:modified>
</cp:coreProperties>
</file>